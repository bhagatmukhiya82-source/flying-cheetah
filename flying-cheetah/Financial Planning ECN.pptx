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erebri" panose="020B0604020202020204" charset="0"/>
      <p:regular r:id="rId9"/>
    </p:embeddedFont>
    <p:embeddedFont>
      <p:font typeface="Cerebri Bold" panose="020B0604020202020204" charset="0"/>
      <p:regular r:id="rId10"/>
    </p:embeddedFont>
    <p:embeddedFont>
      <p:font typeface="Cerebri Medium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78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31464" y="0"/>
            <a:ext cx="10456536" cy="10287000"/>
          </a:xfrm>
          <a:custGeom>
            <a:avLst/>
            <a:gdLst/>
            <a:ahLst/>
            <a:cxnLst/>
            <a:rect l="l" t="t" r="r" b="b"/>
            <a:pathLst>
              <a:path w="10456536" h="10287000">
                <a:moveTo>
                  <a:pt x="0" y="0"/>
                </a:moveTo>
                <a:lnTo>
                  <a:pt x="10456536" y="0"/>
                </a:lnTo>
                <a:lnTo>
                  <a:pt x="10456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08086" y="0"/>
            <a:ext cx="3926670" cy="10287000"/>
          </a:xfrm>
          <a:custGeom>
            <a:avLst/>
            <a:gdLst/>
            <a:ahLst/>
            <a:cxnLst/>
            <a:rect l="l" t="t" r="r" b="b"/>
            <a:pathLst>
              <a:path w="3926670" h="10287000">
                <a:moveTo>
                  <a:pt x="0" y="0"/>
                </a:moveTo>
                <a:lnTo>
                  <a:pt x="3926670" y="0"/>
                </a:lnTo>
                <a:lnTo>
                  <a:pt x="3926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65193" y="1522434"/>
            <a:ext cx="7958048" cy="348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9094" b="1" spc="-182">
                <a:solidFill>
                  <a:srgbClr val="445047"/>
                </a:solidFill>
                <a:latin typeface="Cerebri Bold"/>
                <a:ea typeface="Cerebri Bold"/>
                <a:cs typeface="Cerebri Bold"/>
                <a:sym typeface="Cerebri Bold"/>
              </a:rPr>
              <a:t>Financial Planning for Higher Studies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5356674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0075" y="6108067"/>
            <a:ext cx="7469891" cy="54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4207" b="1" spc="-84">
                <a:solidFill>
                  <a:srgbClr val="6C8692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Plan today. Invest in tomorrow.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7280704"/>
            <a:ext cx="6759560" cy="1082267"/>
          </a:xfrm>
          <a:custGeom>
            <a:avLst/>
            <a:gdLst/>
            <a:ahLst/>
            <a:cxnLst/>
            <a:rect l="l" t="t" r="r" b="b"/>
            <a:pathLst>
              <a:path w="6759560" h="1082267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88064" y="7632251"/>
            <a:ext cx="2459989" cy="35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724" b="1" spc="-54">
                <a:solidFill>
                  <a:srgbClr val="445047"/>
                </a:solidFill>
                <a:latin typeface="Cerebri Bold"/>
                <a:ea typeface="Cerebri Bold"/>
                <a:cs typeface="Cerebri Bold"/>
                <a:sym typeface="Cerebri Bold"/>
              </a:rPr>
              <a:t>Name: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18059" y="7610050"/>
            <a:ext cx="3797384" cy="3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57">
                <a:solidFill>
                  <a:srgbClr val="445047"/>
                </a:solidFill>
                <a:latin typeface="Cerebri"/>
                <a:ea typeface="Cerebri"/>
                <a:cs typeface="Cerebri"/>
                <a:sym typeface="Cerebri"/>
              </a:rPr>
              <a:t>Mohammed Jaorawala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4086" y="8352038"/>
            <a:ext cx="6759560" cy="863627"/>
          </a:xfrm>
          <a:custGeom>
            <a:avLst/>
            <a:gdLst/>
            <a:ahLst/>
            <a:cxnLst/>
            <a:rect l="l" t="t" r="r" b="b"/>
            <a:pathLst>
              <a:path w="6759560" h="863627">
                <a:moveTo>
                  <a:pt x="0" y="0"/>
                </a:moveTo>
                <a:lnTo>
                  <a:pt x="6759560" y="0"/>
                </a:lnTo>
                <a:lnTo>
                  <a:pt x="6759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87274" y="8656388"/>
            <a:ext cx="2538988" cy="35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724" b="1" spc="-54">
                <a:solidFill>
                  <a:srgbClr val="445047"/>
                </a:solidFill>
                <a:latin typeface="Cerebri Bold"/>
                <a:ea typeface="Cerebri Bold"/>
                <a:cs typeface="Cerebri Bold"/>
                <a:sym typeface="Cerebri Bold"/>
              </a:rPr>
              <a:t>PRN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18059" y="8625743"/>
            <a:ext cx="2377422" cy="3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57">
                <a:solidFill>
                  <a:srgbClr val="445047"/>
                </a:solidFill>
                <a:latin typeface="Cerebri"/>
                <a:ea typeface="Cerebri"/>
                <a:cs typeface="Cerebri"/>
                <a:sym typeface="Cerebri"/>
              </a:rPr>
              <a:t>126BTEC2006</a:t>
            </a:r>
          </a:p>
        </p:txBody>
      </p:sp>
      <p:sp>
        <p:nvSpPr>
          <p:cNvPr id="14" name="Freeform 14"/>
          <p:cNvSpPr/>
          <p:nvPr/>
        </p:nvSpPr>
        <p:spPr>
          <a:xfrm>
            <a:off x="8706488" y="6209369"/>
            <a:ext cx="5009512" cy="3006296"/>
          </a:xfrm>
          <a:custGeom>
            <a:avLst/>
            <a:gdLst/>
            <a:ahLst/>
            <a:cxnLst/>
            <a:rect l="l" t="t" r="r" b="b"/>
            <a:pathLst>
              <a:path w="5009512" h="3006296">
                <a:moveTo>
                  <a:pt x="0" y="0"/>
                </a:moveTo>
                <a:lnTo>
                  <a:pt x="5009512" y="0"/>
                </a:lnTo>
                <a:lnTo>
                  <a:pt x="500951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4086" y="9258300"/>
            <a:ext cx="6759560" cy="1082267"/>
          </a:xfrm>
          <a:custGeom>
            <a:avLst/>
            <a:gdLst/>
            <a:ahLst/>
            <a:cxnLst/>
            <a:rect l="l" t="t" r="r" b="b"/>
            <a:pathLst>
              <a:path w="6759560" h="1082267">
                <a:moveTo>
                  <a:pt x="0" y="0"/>
                </a:moveTo>
                <a:lnTo>
                  <a:pt x="6759560" y="0"/>
                </a:lnTo>
                <a:lnTo>
                  <a:pt x="675956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54310" y="9539515"/>
            <a:ext cx="1778580" cy="43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5"/>
              </a:lnSpc>
              <a:spcBef>
                <a:spcPct val="0"/>
              </a:spcBef>
            </a:pPr>
            <a:r>
              <a:rPr lang="en-US" sz="2720" b="1" spc="-54">
                <a:solidFill>
                  <a:srgbClr val="445047"/>
                </a:solidFill>
                <a:latin typeface="Cerebri Bold"/>
                <a:ea typeface="Cerebri Bold"/>
                <a:cs typeface="Cerebri Bold"/>
                <a:sym typeface="Cerebri Bold"/>
              </a:rPr>
              <a:t>Roll No.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8076" y="9513222"/>
            <a:ext cx="2815790" cy="45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9"/>
              </a:lnSpc>
              <a:spcBef>
                <a:spcPct val="0"/>
              </a:spcBef>
            </a:pPr>
            <a:r>
              <a:rPr lang="en-US" sz="2900" spc="-58">
                <a:solidFill>
                  <a:srgbClr val="445047"/>
                </a:solidFill>
                <a:latin typeface="Cerebri"/>
                <a:ea typeface="Cerebri"/>
                <a:cs typeface="Cerebri"/>
                <a:sym typeface="Cerebri"/>
              </a:rPr>
              <a:t>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894048" cy="10287000"/>
          </a:xfrm>
          <a:custGeom>
            <a:avLst/>
            <a:gdLst/>
            <a:ahLst/>
            <a:cxnLst/>
            <a:rect l="l" t="t" r="r" b="b"/>
            <a:pathLst>
              <a:path w="10894048" h="10287000">
                <a:moveTo>
                  <a:pt x="0" y="0"/>
                </a:moveTo>
                <a:lnTo>
                  <a:pt x="10894048" y="0"/>
                </a:lnTo>
                <a:lnTo>
                  <a:pt x="10894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0456536" cy="10287000"/>
          </a:xfrm>
          <a:custGeom>
            <a:avLst/>
            <a:gdLst/>
            <a:ahLst/>
            <a:cxnLst/>
            <a:rect l="l" t="t" r="r" b="b"/>
            <a:pathLst>
              <a:path w="10456536" h="10287000">
                <a:moveTo>
                  <a:pt x="0" y="0"/>
                </a:moveTo>
                <a:lnTo>
                  <a:pt x="10456536" y="0"/>
                </a:lnTo>
                <a:lnTo>
                  <a:pt x="10456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61643" y="1234730"/>
            <a:ext cx="5634106" cy="2235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59"/>
              </a:lnSpc>
            </a:pPr>
            <a:r>
              <a:rPr lang="en-US" sz="8659" b="1" spc="-173">
                <a:solidFill>
                  <a:srgbClr val="48554C"/>
                </a:solidFill>
                <a:latin typeface="Cerebri Bold"/>
                <a:ea typeface="Cerebri Bold"/>
                <a:cs typeface="Cerebri Bold"/>
                <a:sym typeface="Cerebri Bold"/>
              </a:rPr>
              <a:t>Aim and Objectives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3848060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55054" y="4479899"/>
            <a:ext cx="6293057" cy="177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122" b="1" spc="-82">
                <a:solidFill>
                  <a:srgbClr val="68849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Help students make smart financial choices for</a:t>
            </a:r>
          </a:p>
          <a:p>
            <a:pPr algn="l">
              <a:lnSpc>
                <a:spcPts val="4741"/>
              </a:lnSpc>
            </a:pPr>
            <a:r>
              <a:rPr lang="en-US" sz="4122" b="1" spc="-82">
                <a:solidFill>
                  <a:srgbClr val="68849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higher studies.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137" y="6799324"/>
            <a:ext cx="4084770" cy="39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b="1" spc="-55">
                <a:solidFill>
                  <a:srgbClr val="48554C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Estimate education costs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4896" y="7642731"/>
            <a:ext cx="7308792" cy="39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b="1" spc="-55">
                <a:solidFill>
                  <a:srgbClr val="48554C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Compare scholarships, loans, and assistance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6492" y="8501199"/>
            <a:ext cx="6149211" cy="39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b="1" spc="-55">
                <a:solidFill>
                  <a:srgbClr val="48554C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Check eligibility and plan repayments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976890" cy="10287000"/>
          </a:xfrm>
          <a:custGeom>
            <a:avLst/>
            <a:gdLst/>
            <a:ahLst/>
            <a:cxnLst/>
            <a:rect l="l" t="t" r="r" b="b"/>
            <a:pathLst>
              <a:path w="11976890" h="1028700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5564382"/>
            <a:ext cx="10019024" cy="4722618"/>
          </a:xfrm>
          <a:custGeom>
            <a:avLst/>
            <a:gdLst/>
            <a:ahLst/>
            <a:cxnLst/>
            <a:rect l="l" t="t" r="r" b="b"/>
            <a:pathLst>
              <a:path w="10019024" h="4722618">
                <a:moveTo>
                  <a:pt x="0" y="0"/>
                </a:moveTo>
                <a:lnTo>
                  <a:pt x="10019024" y="0"/>
                </a:lnTo>
                <a:lnTo>
                  <a:pt x="1001902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6587" y="965239"/>
            <a:ext cx="7460861" cy="19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4"/>
              </a:lnSpc>
            </a:pPr>
            <a:r>
              <a:rPr lang="en-US" sz="7424" b="1">
                <a:solidFill>
                  <a:srgbClr val="4C534B"/>
                </a:solidFill>
                <a:latin typeface="Cerebri Bold"/>
                <a:ea typeface="Cerebri Bold"/>
                <a:cs typeface="Cerebri Bold"/>
                <a:sym typeface="Cerebri Bold"/>
              </a:rPr>
              <a:t>Introduction</a:t>
            </a:r>
          </a:p>
          <a:p>
            <a:pPr algn="l">
              <a:lnSpc>
                <a:spcPts val="7794"/>
              </a:lnSpc>
            </a:pPr>
            <a:r>
              <a:rPr lang="en-US" sz="7424" b="1">
                <a:solidFill>
                  <a:srgbClr val="4C534B"/>
                </a:solidFill>
                <a:latin typeface="Cerebri Bold"/>
                <a:ea typeface="Cerebri Bold"/>
                <a:cs typeface="Cerebri Bold"/>
                <a:sym typeface="Cerebri Bold"/>
              </a:rPr>
              <a:t>and Background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3214004"/>
            <a:ext cx="2187560" cy="218640"/>
          </a:xfrm>
          <a:custGeom>
            <a:avLst/>
            <a:gdLst/>
            <a:ahLst/>
            <a:cxnLst/>
            <a:rect l="l" t="t" r="r" b="b"/>
            <a:pathLst>
              <a:path w="2187560" h="218640">
                <a:moveTo>
                  <a:pt x="0" y="0"/>
                </a:moveTo>
                <a:lnTo>
                  <a:pt x="2187560" y="0"/>
                </a:lnTo>
                <a:lnTo>
                  <a:pt x="2187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36459" y="3748670"/>
            <a:ext cx="5473621" cy="155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0"/>
              </a:lnSpc>
            </a:pPr>
            <a:r>
              <a:rPr lang="en-US" sz="3304" b="1">
                <a:solidFill>
                  <a:srgbClr val="70899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Planning ahead supports smarter decisions, lower stress, and clearer goals.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0457" y="6602013"/>
            <a:ext cx="4441045" cy="4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>
                <a:solidFill>
                  <a:srgbClr val="4C534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Tuition and admission fees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9827" y="7580967"/>
            <a:ext cx="5504013" cy="88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>
                <a:solidFill>
                  <a:srgbClr val="4C534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Accommodation, food, transport, books and devices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5526" y="8891260"/>
            <a:ext cx="5934141" cy="4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>
                <a:solidFill>
                  <a:srgbClr val="4C534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Emergency fund and inflation buffer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894048" cy="10287000"/>
          </a:xfrm>
          <a:custGeom>
            <a:avLst/>
            <a:gdLst/>
            <a:ahLst/>
            <a:cxnLst/>
            <a:rect l="l" t="t" r="r" b="b"/>
            <a:pathLst>
              <a:path w="10894048" h="10287000">
                <a:moveTo>
                  <a:pt x="0" y="0"/>
                </a:moveTo>
                <a:lnTo>
                  <a:pt x="10894048" y="0"/>
                </a:lnTo>
                <a:lnTo>
                  <a:pt x="10894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64354" y="0"/>
            <a:ext cx="7623646" cy="10287000"/>
          </a:xfrm>
          <a:custGeom>
            <a:avLst/>
            <a:gdLst/>
            <a:ahLst/>
            <a:cxnLst/>
            <a:rect l="l" t="t" r="r" b="b"/>
            <a:pathLst>
              <a:path w="7623646" h="10287000">
                <a:moveTo>
                  <a:pt x="0" y="0"/>
                </a:moveTo>
                <a:lnTo>
                  <a:pt x="7623646" y="0"/>
                </a:lnTo>
                <a:lnTo>
                  <a:pt x="7623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9566" y="769252"/>
            <a:ext cx="6089524" cy="18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b="1" spc="-70">
                <a:solidFill>
                  <a:srgbClr val="414B44"/>
                </a:solidFill>
                <a:latin typeface="Cerebri Bold"/>
                <a:ea typeface="Cerebri Bold"/>
                <a:cs typeface="Cerebri Bold"/>
                <a:sym typeface="Cerebri Bold"/>
              </a:rPr>
              <a:t>Methodology / Procedure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776725"/>
            <a:ext cx="2187560" cy="229572"/>
          </a:xfrm>
          <a:custGeom>
            <a:avLst/>
            <a:gdLst/>
            <a:ahLst/>
            <a:cxnLst/>
            <a:rect l="l" t="t" r="r" b="b"/>
            <a:pathLst>
              <a:path w="2187560" h="229572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2319" y="3342966"/>
            <a:ext cx="6493137" cy="784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</a:pPr>
            <a:r>
              <a:rPr lang="en-US" sz="2909" b="1" spc="-28">
                <a:solidFill>
                  <a:srgbClr val="70899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A simple path to plan a higher-studies</a:t>
            </a:r>
          </a:p>
          <a:p>
            <a:pPr algn="l">
              <a:lnSpc>
                <a:spcPts val="3198"/>
              </a:lnSpc>
            </a:pPr>
            <a:r>
              <a:rPr lang="en-US" sz="2909" b="1" spc="-28">
                <a:solidFill>
                  <a:srgbClr val="70899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budget with confidence.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493047"/>
            <a:ext cx="8936182" cy="874559"/>
          </a:xfrm>
          <a:custGeom>
            <a:avLst/>
            <a:gdLst/>
            <a:ahLst/>
            <a:cxnLst/>
            <a:rect l="l" t="t" r="r" b="b"/>
            <a:pathLst>
              <a:path w="8936182" h="874559">
                <a:moveTo>
                  <a:pt x="0" y="0"/>
                </a:moveTo>
                <a:lnTo>
                  <a:pt x="8936182" y="0"/>
                </a:lnTo>
                <a:lnTo>
                  <a:pt x="893618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54962" y="4649902"/>
            <a:ext cx="585973" cy="54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</a:pPr>
            <a:r>
              <a:rPr lang="en-US" sz="3893" b="1" spc="-38">
                <a:solidFill>
                  <a:srgbClr val="F8F7F4"/>
                </a:solidFill>
                <a:latin typeface="Cerebri Bold"/>
                <a:ea typeface="Cerebri Bold"/>
                <a:cs typeface="Cerebri Bold"/>
                <a:sym typeface="Cerebri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5929" y="4715663"/>
            <a:ext cx="4150862" cy="31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b="1" spc="-22">
                <a:solidFill>
                  <a:srgbClr val="515B5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Choose course and institutions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2176622" y="5138034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45330" y="5356674"/>
            <a:ext cx="8936182" cy="1082267"/>
          </a:xfrm>
          <a:custGeom>
            <a:avLst/>
            <a:gdLst/>
            <a:ahLst/>
            <a:cxnLst/>
            <a:rect l="l" t="t" r="r" b="b"/>
            <a:pathLst>
              <a:path w="8936182" h="1082267">
                <a:moveTo>
                  <a:pt x="0" y="0"/>
                </a:moveTo>
                <a:lnTo>
                  <a:pt x="8936182" y="0"/>
                </a:lnTo>
                <a:lnTo>
                  <a:pt x="8936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54962" y="5674039"/>
            <a:ext cx="585973" cy="54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</a:pPr>
            <a:r>
              <a:rPr lang="en-US" sz="3893" b="1" spc="-38">
                <a:solidFill>
                  <a:srgbClr val="F8F7F4"/>
                </a:solidFill>
                <a:latin typeface="Cerebri Bold"/>
                <a:ea typeface="Cerebri Bold"/>
                <a:cs typeface="Cerebri Bold"/>
                <a:sym typeface="Cerebri Bold"/>
              </a:rPr>
              <a:t>02</a:t>
            </a:r>
          </a:p>
        </p:txBody>
      </p:sp>
      <p:sp>
        <p:nvSpPr>
          <p:cNvPr id="14" name="Freeform 14"/>
          <p:cNvSpPr/>
          <p:nvPr/>
        </p:nvSpPr>
        <p:spPr>
          <a:xfrm>
            <a:off x="2176622" y="6209369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330" y="6428009"/>
            <a:ext cx="8936182" cy="1082267"/>
          </a:xfrm>
          <a:custGeom>
            <a:avLst/>
            <a:gdLst/>
            <a:ahLst/>
            <a:cxnLst/>
            <a:rect l="l" t="t" r="r" b="b"/>
            <a:pathLst>
              <a:path w="8936182" h="1082267">
                <a:moveTo>
                  <a:pt x="0" y="0"/>
                </a:moveTo>
                <a:lnTo>
                  <a:pt x="8936182" y="0"/>
                </a:lnTo>
                <a:lnTo>
                  <a:pt x="8936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54962" y="6698176"/>
            <a:ext cx="585973" cy="54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</a:pPr>
            <a:r>
              <a:rPr lang="en-US" sz="3893" b="1" spc="-38">
                <a:solidFill>
                  <a:srgbClr val="F8F7F4"/>
                </a:solidFill>
                <a:latin typeface="Cerebri Bold"/>
                <a:ea typeface="Cerebri Bold"/>
                <a:cs typeface="Cerebri Bold"/>
                <a:sym typeface="Cerebri Bold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2176622" y="7280704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45330" y="7499343"/>
            <a:ext cx="8936182" cy="863627"/>
          </a:xfrm>
          <a:custGeom>
            <a:avLst/>
            <a:gdLst/>
            <a:ahLst/>
            <a:cxnLst/>
            <a:rect l="l" t="t" r="r" b="b"/>
            <a:pathLst>
              <a:path w="8936182" h="863627">
                <a:moveTo>
                  <a:pt x="0" y="0"/>
                </a:moveTo>
                <a:lnTo>
                  <a:pt x="8936182" y="0"/>
                </a:lnTo>
                <a:lnTo>
                  <a:pt x="8936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54962" y="7722314"/>
            <a:ext cx="585973" cy="54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</a:pPr>
            <a:r>
              <a:rPr lang="en-US" sz="3893" b="1" spc="-38">
                <a:solidFill>
                  <a:srgbClr val="F8F7F4"/>
                </a:solidFill>
                <a:latin typeface="Cerebri Bold"/>
                <a:ea typeface="Cerebri Bold"/>
                <a:cs typeface="Cerebri Bold"/>
                <a:sym typeface="Cerebri Bold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23127" y="7818196"/>
            <a:ext cx="3431061" cy="31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b="1" spc="-22">
                <a:solidFill>
                  <a:srgbClr val="515B5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Compare funding options</a:t>
            </a:r>
          </a:p>
        </p:txBody>
      </p:sp>
      <p:sp>
        <p:nvSpPr>
          <p:cNvPr id="21" name="Freeform 21"/>
          <p:cNvSpPr/>
          <p:nvPr/>
        </p:nvSpPr>
        <p:spPr>
          <a:xfrm>
            <a:off x="2176622" y="8133399"/>
            <a:ext cx="437512" cy="448211"/>
          </a:xfrm>
          <a:custGeom>
            <a:avLst/>
            <a:gdLst/>
            <a:ahLst/>
            <a:cxnLst/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45330" y="8570678"/>
            <a:ext cx="8936182" cy="863627"/>
          </a:xfrm>
          <a:custGeom>
            <a:avLst/>
            <a:gdLst/>
            <a:ahLst/>
            <a:cxnLst/>
            <a:rect l="l" t="t" r="r" b="b"/>
            <a:pathLst>
              <a:path w="8936182" h="863627">
                <a:moveTo>
                  <a:pt x="0" y="0"/>
                </a:moveTo>
                <a:lnTo>
                  <a:pt x="8936182" y="0"/>
                </a:lnTo>
                <a:lnTo>
                  <a:pt x="893618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54962" y="8731390"/>
            <a:ext cx="585973" cy="54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1"/>
              </a:lnSpc>
            </a:pPr>
            <a:r>
              <a:rPr lang="en-US" sz="3893" b="1" spc="-38">
                <a:solidFill>
                  <a:srgbClr val="F8F7F4"/>
                </a:solidFill>
                <a:latin typeface="Cerebri Bold"/>
                <a:ea typeface="Cerebri Bold"/>
                <a:cs typeface="Cerebri Bold"/>
                <a:sym typeface="Cerebri Bold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13678" y="8818068"/>
            <a:ext cx="4375998" cy="331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311" b="1" spc="-22">
                <a:solidFill>
                  <a:srgbClr val="515B5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Prepare a month-by-month plan</a:t>
            </a:r>
          </a:p>
        </p:txBody>
      </p:sp>
      <p:sp>
        <p:nvSpPr>
          <p:cNvPr id="25" name="TextBox 25"/>
          <p:cNvSpPr txBox="1"/>
          <p:nvPr/>
        </p:nvSpPr>
        <p:spPr>
          <a:xfrm rot="-432421">
            <a:off x="12230888" y="2529259"/>
            <a:ext cx="2124683" cy="5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2135" spc="-20">
                <a:solidFill>
                  <a:srgbClr val="737373"/>
                </a:solidFill>
                <a:latin typeface="Cerebri"/>
                <a:ea typeface="Cerebri"/>
                <a:cs typeface="Cerebri"/>
                <a:sym typeface="Cerebri"/>
              </a:rPr>
              <a:t>1. Choose course </a:t>
            </a:r>
          </a:p>
          <a:p>
            <a:pPr algn="ctr">
              <a:lnSpc>
                <a:spcPts val="2348"/>
              </a:lnSpc>
            </a:pPr>
            <a:r>
              <a:rPr lang="en-US" sz="2135" spc="-20">
                <a:solidFill>
                  <a:srgbClr val="737373"/>
                </a:solidFill>
                <a:latin typeface="Cerebri"/>
                <a:ea typeface="Cerebri"/>
                <a:cs typeface="Cerebri"/>
                <a:sym typeface="Cerebri"/>
              </a:rPr>
              <a:t>and institutions</a:t>
            </a:r>
          </a:p>
        </p:txBody>
      </p:sp>
      <p:sp>
        <p:nvSpPr>
          <p:cNvPr id="26" name="TextBox 26"/>
          <p:cNvSpPr txBox="1"/>
          <p:nvPr/>
        </p:nvSpPr>
        <p:spPr>
          <a:xfrm rot="-558984">
            <a:off x="12197076" y="3398946"/>
            <a:ext cx="2464260" cy="69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2"/>
              </a:lnSpc>
            </a:pPr>
            <a:r>
              <a:rPr lang="en-US" sz="2548" spc="-24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2. Collect official</a:t>
            </a:r>
          </a:p>
          <a:p>
            <a:pPr algn="ctr">
              <a:lnSpc>
                <a:spcPts val="2802"/>
              </a:lnSpc>
            </a:pPr>
            <a:r>
              <a:rPr lang="en-US" sz="2548" spc="-24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fee details</a:t>
            </a:r>
          </a:p>
        </p:txBody>
      </p:sp>
      <p:sp>
        <p:nvSpPr>
          <p:cNvPr id="27" name="TextBox 27"/>
          <p:cNvSpPr txBox="1"/>
          <p:nvPr/>
        </p:nvSpPr>
        <p:spPr>
          <a:xfrm rot="-432421">
            <a:off x="12527066" y="4324070"/>
            <a:ext cx="3131948" cy="71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1" spc="-25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3. Calculate total </a:t>
            </a:r>
          </a:p>
          <a:p>
            <a:pPr algn="ctr">
              <a:lnSpc>
                <a:spcPts val="2860"/>
              </a:lnSpc>
            </a:pPr>
            <a:r>
              <a:rPr lang="en-US" sz="2601" spc="-25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cost and funding gap</a:t>
            </a:r>
          </a:p>
        </p:txBody>
      </p:sp>
      <p:sp>
        <p:nvSpPr>
          <p:cNvPr id="28" name="TextBox 28"/>
          <p:cNvSpPr txBox="1"/>
          <p:nvPr/>
        </p:nvSpPr>
        <p:spPr>
          <a:xfrm rot="-558984">
            <a:off x="12584350" y="5347939"/>
            <a:ext cx="3025946" cy="7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sz="2759" spc="-26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4. Compare funding options</a:t>
            </a:r>
          </a:p>
        </p:txBody>
      </p:sp>
      <p:sp>
        <p:nvSpPr>
          <p:cNvPr id="29" name="TextBox 29"/>
          <p:cNvSpPr txBox="1"/>
          <p:nvPr/>
        </p:nvSpPr>
        <p:spPr>
          <a:xfrm rot="-558984">
            <a:off x="12862833" y="6411996"/>
            <a:ext cx="3052272" cy="74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</a:pPr>
            <a:r>
              <a:rPr lang="en-US" sz="2707" spc="-26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5. Prepare a month-</a:t>
            </a:r>
          </a:p>
          <a:p>
            <a:pPr algn="ctr">
              <a:lnSpc>
                <a:spcPts val="2976"/>
              </a:lnSpc>
            </a:pPr>
            <a:r>
              <a:rPr lang="en-US" sz="2707" spc="-26">
                <a:solidFill>
                  <a:srgbClr val="666666"/>
                </a:solidFill>
                <a:latin typeface="Cerebri"/>
                <a:ea typeface="Cerebri"/>
                <a:cs typeface="Cerebri"/>
                <a:sym typeface="Cerebri"/>
              </a:rPr>
              <a:t>by-month plan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99160" y="6778998"/>
            <a:ext cx="5827740" cy="31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b="1" spc="-22">
                <a:solidFill>
                  <a:srgbClr val="515B5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Calculate total course cost and funding gap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23414" y="5754861"/>
            <a:ext cx="3402315" cy="313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b="1" spc="-22">
                <a:solidFill>
                  <a:srgbClr val="515B54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Collect official fee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06488" y="0"/>
            <a:ext cx="9581512" cy="4296271"/>
          </a:xfrm>
          <a:custGeom>
            <a:avLst/>
            <a:gdLst/>
            <a:ahLst/>
            <a:cxnLst/>
            <a:rect l="l" t="t" r="r" b="b"/>
            <a:pathLst>
              <a:path w="9581512" h="4296271">
                <a:moveTo>
                  <a:pt x="0" y="0"/>
                </a:moveTo>
                <a:lnTo>
                  <a:pt x="9581512" y="0"/>
                </a:lnTo>
                <a:lnTo>
                  <a:pt x="9581512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706488" y="4285339"/>
            <a:ext cx="4582938" cy="5793953"/>
          </a:xfrm>
          <a:custGeom>
            <a:avLst/>
            <a:gdLst/>
            <a:ahLst/>
            <a:cxnLst/>
            <a:rect l="l" t="t" r="r" b="b"/>
            <a:pathLst>
              <a:path w="4582938" h="5793953">
                <a:moveTo>
                  <a:pt x="0" y="0"/>
                </a:moveTo>
                <a:lnTo>
                  <a:pt x="4582938" y="0"/>
                </a:lnTo>
                <a:lnTo>
                  <a:pt x="458293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78488" y="4285339"/>
            <a:ext cx="5009512" cy="5793953"/>
          </a:xfrm>
          <a:custGeom>
            <a:avLst/>
            <a:gdLst/>
            <a:ahLst/>
            <a:cxnLst/>
            <a:rect l="l" t="t" r="r" b="b"/>
            <a:pathLst>
              <a:path w="5009512" h="5793953">
                <a:moveTo>
                  <a:pt x="0" y="0"/>
                </a:moveTo>
                <a:lnTo>
                  <a:pt x="5009512" y="0"/>
                </a:lnTo>
                <a:lnTo>
                  <a:pt x="5009512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3640352"/>
            <a:ext cx="7853340" cy="863627"/>
          </a:xfrm>
          <a:custGeom>
            <a:avLst/>
            <a:gdLst/>
            <a:ahLst/>
            <a:cxnLst/>
            <a:rect l="l" t="t" r="r" b="b"/>
            <a:pathLst>
              <a:path w="7853340" h="863627">
                <a:moveTo>
                  <a:pt x="0" y="0"/>
                </a:moveTo>
                <a:lnTo>
                  <a:pt x="7853340" y="0"/>
                </a:lnTo>
                <a:lnTo>
                  <a:pt x="7853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4285339"/>
            <a:ext cx="7853340" cy="5793953"/>
          </a:xfrm>
          <a:custGeom>
            <a:avLst/>
            <a:gdLst/>
            <a:ahLst/>
            <a:cxnLst/>
            <a:rect l="l" t="t" r="r" b="b"/>
            <a:pathLst>
              <a:path w="7853340" h="5793953">
                <a:moveTo>
                  <a:pt x="0" y="0"/>
                </a:moveTo>
                <a:lnTo>
                  <a:pt x="7853340" y="0"/>
                </a:lnTo>
                <a:lnTo>
                  <a:pt x="785334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3196" y="801613"/>
            <a:ext cx="7368715" cy="203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4"/>
              </a:lnSpc>
            </a:pPr>
            <a:r>
              <a:rPr lang="en-US" sz="7624" b="1" spc="-74">
                <a:solidFill>
                  <a:srgbClr val="313A39"/>
                </a:solidFill>
                <a:latin typeface="Cerebri Bold"/>
                <a:ea typeface="Cerebri Bold"/>
                <a:cs typeface="Cerebri Bold"/>
                <a:sym typeface="Cerebri Bold"/>
              </a:rPr>
              <a:t>Implementation and Evidence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2995365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0790" y="3913277"/>
            <a:ext cx="4077259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1" spc="-45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Illustrative Annual Budget (INR)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2377" y="4712603"/>
            <a:ext cx="918554" cy="36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47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Tuition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1162" y="4673005"/>
            <a:ext cx="1499461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47"/>
              </a:lnSpc>
            </a:pPr>
            <a:r>
              <a:rPr lang="en-US" sz="2575" b="1" spc="-51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₹3,20,000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0147" y="5343806"/>
            <a:ext cx="2141543" cy="35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b="1" spc="-44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Accommodation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1162" y="5335682"/>
            <a:ext cx="1499461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47"/>
              </a:lnSpc>
            </a:pPr>
            <a:r>
              <a:rPr lang="en-US" sz="2575" b="1" spc="-51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₹1,20,000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0837" y="5976612"/>
            <a:ext cx="2072582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1" spc="-45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Food / Personal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81681" y="5968237"/>
            <a:ext cx="1216109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47"/>
              </a:lnSpc>
            </a:pPr>
            <a:r>
              <a:rPr lang="en-US" sz="2575" b="1" spc="-51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₹90,000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7478" y="6624228"/>
            <a:ext cx="3408484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1" spc="-45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Transport / Miscellaneous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81681" y="6615854"/>
            <a:ext cx="1216109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47"/>
              </a:lnSpc>
            </a:pPr>
            <a:r>
              <a:rPr lang="en-US" sz="2575" b="1" spc="-51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₹60,000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767" y="7241472"/>
            <a:ext cx="3879581" cy="35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b="1" spc="-44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Books / Supplies / Equipment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81681" y="7218287"/>
            <a:ext cx="1216109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47"/>
              </a:lnSpc>
            </a:pPr>
            <a:r>
              <a:rPr lang="en-US" sz="2575" b="1" spc="-51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₹25,000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5894" y="7874278"/>
            <a:ext cx="1566859" cy="356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1" spc="-45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Other Costs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1681" y="7865903"/>
            <a:ext cx="1216109" cy="40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47"/>
              </a:lnSpc>
            </a:pPr>
            <a:r>
              <a:rPr lang="en-US" sz="2575" b="1" spc="-51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₹25,000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82842" y="8352038"/>
            <a:ext cx="6978316" cy="229572"/>
          </a:xfrm>
          <a:custGeom>
            <a:avLst/>
            <a:gdLst/>
            <a:ahLst/>
            <a:cxnLst/>
            <a:rect l="l" t="t" r="r" b="b"/>
            <a:pathLst>
              <a:path w="6978316" h="229572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134488" y="5138034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134488" y="5783021"/>
            <a:ext cx="3926670" cy="218640"/>
          </a:xfrm>
          <a:custGeom>
            <a:avLst/>
            <a:gdLst/>
            <a:ahLst/>
            <a:cxnLst/>
            <a:rect l="l" t="t" r="r" b="b"/>
            <a:pathLst>
              <a:path w="3926670" h="218640">
                <a:moveTo>
                  <a:pt x="0" y="0"/>
                </a:moveTo>
                <a:lnTo>
                  <a:pt x="3926670" y="0"/>
                </a:lnTo>
                <a:lnTo>
                  <a:pt x="3926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134488" y="6428009"/>
            <a:ext cx="3926670" cy="218640"/>
          </a:xfrm>
          <a:custGeom>
            <a:avLst/>
            <a:gdLst/>
            <a:ahLst/>
            <a:cxnLst/>
            <a:rect l="l" t="t" r="r" b="b"/>
            <a:pathLst>
              <a:path w="3926670" h="218640">
                <a:moveTo>
                  <a:pt x="0" y="0"/>
                </a:moveTo>
                <a:lnTo>
                  <a:pt x="3926670" y="0"/>
                </a:lnTo>
                <a:lnTo>
                  <a:pt x="392667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134488" y="7062064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4134488" y="7707051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64185" y="8974564"/>
            <a:ext cx="737701" cy="39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4"/>
              </a:lnSpc>
            </a:pPr>
            <a:r>
              <a:rPr lang="en-US" sz="2526" b="1" spc="-50">
                <a:solidFill>
                  <a:srgbClr val="313A39"/>
                </a:solidFill>
                <a:latin typeface="Cerebri Bold"/>
                <a:ea typeface="Cerebri Bold"/>
                <a:cs typeface="Cerebri Bold"/>
                <a:sym typeface="Cerebri Bold"/>
              </a:rPr>
              <a:t>Total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53756" y="8750251"/>
            <a:ext cx="386875" cy="854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51"/>
              </a:lnSpc>
            </a:pPr>
            <a:r>
              <a:rPr lang="en-US" sz="5348" b="1" spc="-107">
                <a:solidFill>
                  <a:srgbClr val="9DB480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₹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23867" y="8813829"/>
            <a:ext cx="3559414" cy="915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44"/>
              </a:lnSpc>
            </a:pPr>
            <a:r>
              <a:rPr lang="en-US" sz="6710" b="1" spc="-65">
                <a:solidFill>
                  <a:srgbClr val="9DB480"/>
                </a:solidFill>
                <a:latin typeface="Cerebri Bold"/>
                <a:ea typeface="Cerebri Bold"/>
                <a:cs typeface="Cerebri Bold"/>
                <a:sym typeface="Cerebri Bold"/>
              </a:rPr>
              <a:t>6,40,000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31043" y="4735719"/>
            <a:ext cx="3797250" cy="380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8"/>
              </a:lnSpc>
            </a:pPr>
            <a:r>
              <a:rPr lang="en-US" sz="2430" b="1" spc="-48">
                <a:solidFill>
                  <a:srgbClr val="313A39"/>
                </a:solidFill>
                <a:latin typeface="Cerebri Bold"/>
                <a:ea typeface="Cerebri Bold"/>
                <a:cs typeface="Cerebri Bold"/>
                <a:sym typeface="Cerebri Bold"/>
              </a:rPr>
              <a:t>Compare Funding Options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52326" y="5629712"/>
            <a:ext cx="1668937" cy="35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92" b="1" spc="-43">
                <a:solidFill>
                  <a:srgbClr val="769255"/>
                </a:solidFill>
                <a:latin typeface="Cerebri Bold"/>
                <a:ea typeface="Cerebri Bold"/>
                <a:cs typeface="Cerebri Bold"/>
                <a:sym typeface="Cerebri Bold"/>
              </a:rPr>
              <a:t>Scholarships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42749" y="6015726"/>
            <a:ext cx="2626692" cy="29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63" b="1" spc="-37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Reduce education costs</a:t>
            </a:r>
          </a:p>
        </p:txBody>
      </p:sp>
      <p:sp>
        <p:nvSpPr>
          <p:cNvPr id="35" name="Freeform 35"/>
          <p:cNvSpPr/>
          <p:nvPr/>
        </p:nvSpPr>
        <p:spPr>
          <a:xfrm>
            <a:off x="9144000" y="6428009"/>
            <a:ext cx="3926670" cy="437279"/>
          </a:xfrm>
          <a:custGeom>
            <a:avLst/>
            <a:gdLst/>
            <a:ahLst/>
            <a:cxnLst/>
            <a:rect l="l" t="t" r="r" b="b"/>
            <a:pathLst>
              <a:path w="3926670" h="437279">
                <a:moveTo>
                  <a:pt x="0" y="0"/>
                </a:moveTo>
                <a:lnTo>
                  <a:pt x="3926670" y="0"/>
                </a:lnTo>
                <a:lnTo>
                  <a:pt x="39266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9247302" y="6925195"/>
            <a:ext cx="2171351" cy="357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b="1" spc="-44">
                <a:solidFill>
                  <a:srgbClr val="769255"/>
                </a:solidFill>
                <a:latin typeface="Cerebri Bold"/>
                <a:ea typeface="Cerebri Bold"/>
                <a:cs typeface="Cerebri Bold"/>
                <a:sym typeface="Cerebri Bold"/>
              </a:rPr>
              <a:t>Education Loans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246138" y="7350395"/>
            <a:ext cx="2287775" cy="601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Finance studies with</a:t>
            </a:r>
          </a:p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repayment plans</a:t>
            </a:r>
          </a:p>
        </p:txBody>
      </p:sp>
      <p:sp>
        <p:nvSpPr>
          <p:cNvPr id="38" name="Freeform 38"/>
          <p:cNvSpPr/>
          <p:nvPr/>
        </p:nvSpPr>
        <p:spPr>
          <a:xfrm>
            <a:off x="9144000" y="8133399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246706" y="8566576"/>
            <a:ext cx="2230970" cy="357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92" b="1" spc="-43">
                <a:solidFill>
                  <a:srgbClr val="769255"/>
                </a:solidFill>
                <a:latin typeface="Cerebri Bold"/>
                <a:ea typeface="Cerebri Bold"/>
                <a:cs typeface="Cerebri Bold"/>
                <a:sym typeface="Cerebri Bold"/>
              </a:rPr>
              <a:t>Other Assistance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43301" y="8974566"/>
            <a:ext cx="2571440" cy="636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1986" b="1" spc="-39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Grants and support for</a:t>
            </a:r>
          </a:p>
          <a:p>
            <a:pPr algn="l">
              <a:lnSpc>
                <a:spcPts val="2581"/>
              </a:lnSpc>
            </a:pPr>
            <a:r>
              <a:rPr lang="en-US" sz="1986" b="1" spc="-39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eligible students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652318" y="4726500"/>
            <a:ext cx="3689324" cy="38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478" b="1" spc="-49">
                <a:solidFill>
                  <a:srgbClr val="313A39"/>
                </a:solidFill>
                <a:latin typeface="Cerebri Bold"/>
                <a:ea typeface="Cerebri Bold"/>
                <a:cs typeface="Cerebri Bold"/>
                <a:sym typeface="Cerebri Bold"/>
              </a:rPr>
              <a:t>Eligibility and Loan Terms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656880" y="5669716"/>
            <a:ext cx="3233139" cy="29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Check eligibility criteria early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51989" y="6332393"/>
            <a:ext cx="3722215" cy="29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Review interest rates and charges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56645" y="7664273"/>
            <a:ext cx="3256556" cy="315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1986" b="1" spc="-39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Know the moratorium period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655984" y="8335485"/>
            <a:ext cx="3322721" cy="29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Compare loan offers carefully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50633" y="8983101"/>
            <a:ext cx="3857813" cy="29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Plan repayments before borrowing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656383" y="7010131"/>
            <a:ext cx="3282817" cy="29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 spc="-38">
                <a:solidFill>
                  <a:srgbClr val="313A3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Understand repayment terms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89330" y="0"/>
            <a:ext cx="8498670" cy="10287000"/>
          </a:xfrm>
          <a:custGeom>
            <a:avLst/>
            <a:gdLst/>
            <a:ahLst/>
            <a:cxnLst/>
            <a:rect l="l" t="t" r="r" b="b"/>
            <a:pathLst>
              <a:path w="8498670" h="10287000">
                <a:moveTo>
                  <a:pt x="0" y="0"/>
                </a:moveTo>
                <a:lnTo>
                  <a:pt x="8498670" y="0"/>
                </a:lnTo>
                <a:lnTo>
                  <a:pt x="8498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08086" y="0"/>
            <a:ext cx="8279914" cy="10287000"/>
          </a:xfrm>
          <a:custGeom>
            <a:avLst/>
            <a:gdLst/>
            <a:ahLst/>
            <a:cxnLst/>
            <a:rect l="l" t="t" r="r" b="b"/>
            <a:pathLst>
              <a:path w="8279914" h="10287000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80168" y="995108"/>
            <a:ext cx="8423788" cy="171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1">
                <a:solidFill>
                  <a:srgbClr val="293229"/>
                </a:solidFill>
                <a:latin typeface="Cerebri Bold"/>
                <a:ea typeface="Cerebri Bold"/>
                <a:cs typeface="Cerebri Bold"/>
                <a:sym typeface="Cerebri Bold"/>
              </a:rPr>
              <a:t>Results and Learning Outcomes</a:t>
            </a:r>
          </a:p>
        </p:txBody>
      </p:sp>
      <p:sp>
        <p:nvSpPr>
          <p:cNvPr id="6" name="Freeform 6"/>
          <p:cNvSpPr/>
          <p:nvPr/>
        </p:nvSpPr>
        <p:spPr>
          <a:xfrm>
            <a:off x="864086" y="2995365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086" y="3421712"/>
            <a:ext cx="8279914" cy="2579949"/>
          </a:xfrm>
          <a:custGeom>
            <a:avLst/>
            <a:gdLst/>
            <a:ahLst/>
            <a:cxnLst/>
            <a:rect l="l" t="t" r="r" b="b"/>
            <a:pathLst>
              <a:path w="8279914" h="2579949">
                <a:moveTo>
                  <a:pt x="0" y="0"/>
                </a:moveTo>
                <a:lnTo>
                  <a:pt x="8279914" y="0"/>
                </a:lnTo>
                <a:lnTo>
                  <a:pt x="827991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43434" y="3882853"/>
            <a:ext cx="2280832" cy="30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Identify total cost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131" y="4419410"/>
            <a:ext cx="5411155" cy="28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 b="1" spc="-44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Match funding sources to the funding gap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5702" y="4931478"/>
            <a:ext cx="3053969" cy="286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2"/>
              </a:lnSpc>
            </a:pPr>
            <a:r>
              <a:rPr lang="en-US" sz="2232" b="1" spc="-44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Avoid unverified agents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9683" y="5449181"/>
            <a:ext cx="3655966" cy="305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sz="2271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Understand loan obligations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7672" y="6627748"/>
            <a:ext cx="4315608" cy="35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2707" b="1" spc="-54">
                <a:solidFill>
                  <a:srgbClr val="698292"/>
                </a:solidFill>
                <a:latin typeface="Cerebri Bold"/>
                <a:ea typeface="Cerebri Bold"/>
                <a:cs typeface="Cerebri Bold"/>
                <a:sym typeface="Cerebri Bold"/>
              </a:rPr>
              <a:t>YOUR ACTION CHECKLIST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4086" y="7062064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42519" y="7463543"/>
            <a:ext cx="255484" cy="67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5139" b="1">
                <a:solidFill>
                  <a:srgbClr val="849C6A"/>
                </a:solidFill>
                <a:latin typeface="Cerebri Bold"/>
                <a:ea typeface="Cerebri Bold"/>
                <a:cs typeface="Cerebri Bold"/>
                <a:sym typeface="Cerebri Bold"/>
              </a:rPr>
              <a:t>1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39110" y="7499343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10828" y="8336609"/>
            <a:ext cx="2277070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Apply for</a:t>
            </a:r>
          </a:p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scholarships</a:t>
            </a:r>
          </a:p>
        </p:txBody>
      </p:sp>
      <p:sp>
        <p:nvSpPr>
          <p:cNvPr id="17" name="Freeform 17"/>
          <p:cNvSpPr/>
          <p:nvPr/>
        </p:nvSpPr>
        <p:spPr>
          <a:xfrm>
            <a:off x="3040708" y="7062064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134488" y="7499343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217330" y="7062064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630519" y="7463543"/>
            <a:ext cx="373452" cy="67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5139" b="1">
                <a:solidFill>
                  <a:srgbClr val="849C6A"/>
                </a:solidFill>
                <a:latin typeface="Cerebri Bold"/>
                <a:ea typeface="Cerebri Bold"/>
                <a:cs typeface="Cerebri Bold"/>
                <a:sym typeface="Cerebri Bold"/>
              </a:rPr>
              <a:t>3</a:t>
            </a:r>
          </a:p>
        </p:txBody>
      </p:sp>
      <p:sp>
        <p:nvSpPr>
          <p:cNvPr id="21" name="Freeform 21"/>
          <p:cNvSpPr/>
          <p:nvPr/>
        </p:nvSpPr>
        <p:spPr>
          <a:xfrm>
            <a:off x="6311110" y="7499343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277445" y="8336609"/>
            <a:ext cx="2277070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Plan</a:t>
            </a:r>
          </a:p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repayments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7612708" y="7062064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956112" y="7463543"/>
            <a:ext cx="383563" cy="67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5139" b="1">
                <a:solidFill>
                  <a:srgbClr val="849C6A"/>
                </a:solidFill>
                <a:latin typeface="Cerebri Bold"/>
                <a:ea typeface="Cerebri Bold"/>
                <a:cs typeface="Cerebri Bold"/>
                <a:sym typeface="Cerebri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20570" y="8336609"/>
            <a:ext cx="2277070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Review and</a:t>
            </a:r>
          </a:p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update regularly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107531" y="8336609"/>
            <a:ext cx="2277070" cy="71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Compare</a:t>
            </a:r>
          </a:p>
          <a:p>
            <a:pPr algn="l">
              <a:lnSpc>
                <a:spcPts val="2930"/>
              </a:lnSpc>
            </a:pPr>
            <a:r>
              <a:rPr lang="en-US" sz="2254" b="1" spc="-45">
                <a:solidFill>
                  <a:srgbClr val="293229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loans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36175" y="7463543"/>
            <a:ext cx="368733" cy="67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5139" b="1">
                <a:solidFill>
                  <a:srgbClr val="849C6A"/>
                </a:solidFill>
                <a:latin typeface="Cerebri Bold"/>
                <a:ea typeface="Cerebri Bold"/>
                <a:cs typeface="Cerebri Bold"/>
                <a:sym typeface="Cerebri 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89330" y="0"/>
            <a:ext cx="8498670" cy="10287000"/>
          </a:xfrm>
          <a:custGeom>
            <a:avLst/>
            <a:gdLst/>
            <a:ahLst/>
            <a:cxnLst/>
            <a:rect l="l" t="t" r="r" b="b"/>
            <a:pathLst>
              <a:path w="8498670" h="10287000">
                <a:moveTo>
                  <a:pt x="0" y="0"/>
                </a:moveTo>
                <a:lnTo>
                  <a:pt x="8498670" y="0"/>
                </a:lnTo>
                <a:lnTo>
                  <a:pt x="84986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49919" y="925103"/>
            <a:ext cx="6806539" cy="183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70"/>
              </a:lnSpc>
            </a:pPr>
            <a:r>
              <a:rPr lang="en-US" sz="7070" b="1">
                <a:solidFill>
                  <a:srgbClr val="414F44"/>
                </a:solidFill>
                <a:latin typeface="Cerebri Bold"/>
                <a:ea typeface="Cerebri Bold"/>
                <a:cs typeface="Cerebri Bold"/>
                <a:sym typeface="Cerebri Bold"/>
              </a:rPr>
              <a:t>Conclusion and Future Scope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2995365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9507" y="3551554"/>
            <a:ext cx="4526647" cy="81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707" b="1">
                <a:solidFill>
                  <a:srgbClr val="54748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Plan early to make informed financial decisions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7634" y="4584016"/>
            <a:ext cx="5713985" cy="78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b="1">
                <a:solidFill>
                  <a:srgbClr val="54748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Track fees, schemes, scholarships, expenses, and repayment readiness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0322" y="5629950"/>
            <a:ext cx="4445179" cy="81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707" b="1">
                <a:solidFill>
                  <a:srgbClr val="54748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Stay informed and seize the</a:t>
            </a:r>
          </a:p>
          <a:p>
            <a:pPr algn="l">
              <a:lnSpc>
                <a:spcPts val="3248"/>
              </a:lnSpc>
            </a:pPr>
            <a:r>
              <a:rPr lang="en-US" sz="2707" b="1">
                <a:solidFill>
                  <a:srgbClr val="54748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right opportunities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6964" y="6684209"/>
            <a:ext cx="3780982" cy="81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707" b="1">
                <a:solidFill>
                  <a:srgbClr val="54748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Secure your future with</a:t>
            </a:r>
          </a:p>
          <a:p>
            <a:pPr algn="l">
              <a:lnSpc>
                <a:spcPts val="3248"/>
              </a:lnSpc>
            </a:pPr>
            <a:r>
              <a:rPr lang="en-US" sz="2707" b="1">
                <a:solidFill>
                  <a:srgbClr val="54748B"/>
                </a:solidFill>
                <a:latin typeface="Cerebri Medium"/>
                <a:ea typeface="Cerebri Medium"/>
                <a:cs typeface="Cerebri Medium"/>
                <a:sym typeface="Cerebri Medium"/>
              </a:rPr>
              <a:t>smart financial habits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7707051"/>
            <a:ext cx="9373694" cy="2153601"/>
          </a:xfrm>
          <a:custGeom>
            <a:avLst/>
            <a:gdLst/>
            <a:ahLst/>
            <a:cxnLst/>
            <a:rect l="l" t="t" r="r" b="b"/>
            <a:pathLst>
              <a:path w="9373694" h="2153601">
                <a:moveTo>
                  <a:pt x="0" y="0"/>
                </a:moveTo>
                <a:lnTo>
                  <a:pt x="9373694" y="0"/>
                </a:lnTo>
                <a:lnTo>
                  <a:pt x="9373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1598" y="8133399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08916" y="8150424"/>
            <a:ext cx="7879492" cy="1157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1"/>
              </a:lnSpc>
            </a:pPr>
            <a:r>
              <a:rPr lang="en-US" sz="4157" b="1">
                <a:solidFill>
                  <a:srgbClr val="414F44"/>
                </a:solidFill>
                <a:latin typeface="Cerebri Bold"/>
                <a:ea typeface="Cerebri Bold"/>
                <a:cs typeface="Cerebri Bold"/>
                <a:sym typeface="Cerebri Bold"/>
              </a:rPr>
              <a:t>Smart financial planning today builds a </a:t>
            </a:r>
            <a:r>
              <a:rPr lang="en-US" sz="4157" b="1">
                <a:solidFill>
                  <a:srgbClr val="54748B"/>
                </a:solidFill>
                <a:latin typeface="Cerebri Bold"/>
                <a:ea typeface="Cerebri Bold"/>
                <a:cs typeface="Cerebri Bold"/>
                <a:sym typeface="Cerebri Bold"/>
              </a:rPr>
              <a:t>stronger</a:t>
            </a:r>
            <a:r>
              <a:rPr lang="en-US" sz="4157" b="1">
                <a:solidFill>
                  <a:srgbClr val="414F44"/>
                </a:solidFill>
                <a:latin typeface="Cerebri Bold"/>
                <a:ea typeface="Cerebri Bold"/>
                <a:cs typeface="Cerebri Bold"/>
                <a:sym typeface="Cerebri Bold"/>
              </a:rPr>
              <a:t>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Custom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Cerebri Bold</vt:lpstr>
      <vt:lpstr>Arial</vt:lpstr>
      <vt:lpstr>Calibri</vt:lpstr>
      <vt:lpstr>Cerebri</vt:lpstr>
      <vt:lpstr>Cerebri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Planning</dc:title>
  <dc:creator>MOHAMMED</dc:creator>
  <cp:lastModifiedBy>MOHAMMED JAORAWALA</cp:lastModifiedBy>
  <cp:revision>2</cp:revision>
  <dcterms:created xsi:type="dcterms:W3CDTF">2006-08-16T00:00:00Z</dcterms:created>
  <dcterms:modified xsi:type="dcterms:W3CDTF">2026-10-25T15:02:19Z</dcterms:modified>
  <dc:identifier>DAHZBg6Y3Ds</dc:identifier>
</cp:coreProperties>
</file>